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Microsoft YaHei"/>
              </a:rPr>
              <a:t>封面。口头要点：用一句话交代这个项目解决什么问题——从自然语言到SQL、可视化与报告的自动化数据分析流水线。强调不是演示demo，而是面向企业级交付的全栈工程产物。提及今天的总览会从定位、架构、Pipeline、工程、DevOps、前端和Roadmap七个维度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Microsoft YaHei"/>
              </a:rPr>
              <a:t>项目定位。口头要点：强调这个项目的核心价值不是玩具——是一条从自然语言问题到结构化分析报告的完整工程流水线。六项亮点里重点提 Self-Consistency（多学科通用的鲁棒性手段，非本项目独有但本项目的工程化集成值得关注）以及 ARQ Retry（把单机调度平滑升级到分布式队列的路径）。指出所有特性均为 env-gated，即关闭 env 配置可退回到单模型、无预算限制的极简行为，保证本地/评测和生产的零摩擦。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Microsoft YaHei"/>
              </a:rPr>
              <a:t>系统架构图。口头要点：采用经典三层解耦——前端 SPA 独立构建通过 Ingress-NGINX 反向代理到后端；FastAPI 负责 HTTP 协议层、中间件链、路由挂载和生命周期管理；LangGraph 作为编排层把 Agent 抽象为状态机节点；下层为 4 个垂直子系统。中间件注册顺序决定了 observability → auth → metrics 的日志顺序，运维排障时可以通过日志还原请求链。指出 /metrics 端点兼容 Prometheus 抓取，可作为 HPA 输入。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Microsoft YaHei"/>
              </a:rPr>
              <a:t>Agent Pipeline。口头要点：重点讲缓存命中和 Replan 机制的设计取舍——缓存并非简单地跳过 LLM 调用，而是同时命中 semantic_cache（语义匹配）和 response_cache（精确匹配），命中率上限是运维指标的硬通货；Replan 的 context 压缩不是简单截断，而是保留首尾、附带行数统计、写明压缩说明，让模型在下一次循环还能推断被丢弃了什么。consistency metadata 对三次采样投票的结果做了 side-by-side 标注，前端展示时用户能看到 2/3 这样的置信度。caliber LLM 目前关闭（仅 LLM review 收紧，不触发 REPLAN），是 pending 真实 IdP 对接的方向。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Microsoft YaHei"/>
              </a:rPr>
              <a:t>工程化支柱。口头要点：强调测试理念——1686+ 用例覆盖 P0/P1/P2 多轨道，其中 P2 回归集以离线模式跑（mock LLM），保证快速反馈的同时主链路保持真实调用。可观测强调双写思路：本地 trace 不受网络影响，LangFuse 云端用于多实例聚合，不存在单点依赖。配置治理的 'env-gated' 是本项目所有能力的统一范式：凡未显式打开的 env，行为与 '零配置' 完全一致，避免新人跑起来一脸懵或者生产漏配开关引发泄漏。Security 的 prompt guard 是 fail-open 而非 fail-closed—— guard 异常不阻断主分析，这是为了核心可用性做的取舍，审计报告里有完整的攻防演练说明。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Microsoft YaHei"/>
              </a:rPr>
              <a:t>DevOps / K8s。口头要点：多阶段构建的最终镜像仅 ~200MB（不含编译工具链），部署脚本和 Helm chart 在 deploy/k8s/ 下可一键拉起。蓝绿部署的核心策略是一次同步切换，支持 30 秒内的健康检查回滚窗口，避开了 canary 长尾流量带来的部分失败问题。NetworkPolicy 6 条规则层级清晰：default-deny-all 在 Ingress 和 Egress 双向启用，细粒度白名单跨 namespace 访问（如 Redis / Postgres 在 infra namespace，app 在 app namespace）。强调 preStop sleep 是正确设置优雅下线的必要手段——FastAPI 没有内置 TCP drain，必须靠 preStop + terminationGracePeriodSeconds 协作完成零停机。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Microsoft YaHei"/>
              </a:rPr>
              <a:t>前端工程。口头要点：本项目选择了 hash routing（而非 BrowserRouter）的主要原因是——部署在子路径或 CDN 边缘缓存友好，Nginx 不需要为每个前端路由都加 rewrite 规则，Share link 同窗口刷新不丢会话。cmdk 命令面板是 onboarding 的关键入口——Ctrl+K 打开后可以把 8 个视图、新对话、反馈弹窗、主题切换统一收拢。强调设计令牌层（--color-brand / --color-ink 等）的收敛成果——从字号 18 档收敛到 6 档、圆角 6 档收敛到 2 档，使得换季改色一处改 300 处生效。tsc --noEmit 是 0 errors hard gate，CI 中任一 commit 触线即阻断。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000">
                <a:latin typeface="Microsoft YaHei"/>
              </a:rPr>
              <a:t>Roadmap。口头要点：D63-D69 的跨度涵盖了多 Agent 编排、预算治理、可观测三大支柱的落地，每一版都有独立的验收标准和回滚路径。下一轮三个候选是按「ROI × 风险」排优先级——E2E 是用户感知最强的最高 ROI，语义缓存调优是性能基线最有潜力的方向，真实 IdP 对接是法规合规的硬性前置。强调 「不是路线图规划而是工程交付」——每个 D.xxx 都直接在 deploy/ 和 app/ 下找到对应产出，没有漂移的中间产物。以一句话收尾：六阶段 Pipeline + 三级零信任 + 全栈可观测，构成了本项目从原型到生产的完整工程闭环。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3200400" cy="54864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32720" cy="118872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4200" b="1">
                <a:solidFill>
                  <a:srgbClr val="143A5E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Enterprise Data Analyst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08960"/>
            <a:ext cx="10332720" cy="91440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2800" b="0">
                <a:solidFill>
                  <a:srgbClr val="0E1726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架构总览与工程实践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297680"/>
            <a:ext cx="5029200" cy="548640"/>
          </a:xfrm>
          <a:prstGeom prst="roundRect">
            <a:avLst>
              <a:gd name="adj" fmla="val 12000"/>
            </a:avLst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370832"/>
            <a:ext cx="4846320" cy="45720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/>
            <a:r>
              <a:rPr sz="1600" b="0">
                <a:solidFill>
                  <a:srgbClr val="143A5E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FastAPI · LangGraph · React 19 · K8s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12080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400" b="0">
                <a:solidFill>
                  <a:srgbClr val="46586C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2026-09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Enterprise Data Analyst Agent  |  全栈工程  ·  可观测  ·  安全合规  ·  云原生部署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11430000" cy="32004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项目定位 — 智能数据分析助手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640080"/>
            <a:ext cx="11247120" cy="548640"/>
          </a:xfrm>
          <a:prstGeom prst="roundRect">
            <a:avLst>
              <a:gd name="adj" fmla="val 12000"/>
            </a:avLst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/>
            <a:r>
              <a:rPr sz="1500" b="1">
                <a:solidFill>
                  <a:srgbClr val="143A5E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一句话：用自然语言驱动数据分析 —— 自动生成 SQL 查询、Python 可视化与结构化分析报告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553212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1097280" cy="274320"/>
          </a:xfrm>
          <a:prstGeom prst="rect">
            <a:avLst/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08760"/>
            <a:ext cx="914400" cy="201168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508760"/>
            <a:ext cx="4160520" cy="27432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400" b="1">
                <a:solidFill>
                  <a:srgbClr val="143A5E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6 阶段 Agent 流水线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828800"/>
            <a:ext cx="5257800" cy="100584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050" b="0">
                <a:solidFill>
                  <a:srgbClr val="46586C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Clarify → Plan → Execute → Reflect → Replan → Finalize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463040"/>
            <a:ext cx="553212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1463040"/>
            <a:ext cx="1097280" cy="27432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2" y="1508760"/>
            <a:ext cx="914400" cy="201168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Budget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79792" y="1508760"/>
            <a:ext cx="4160520" cy="27432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400" b="1">
                <a:solidFill>
                  <a:srgbClr val="143A5E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LLM 预算三级限额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1828800"/>
            <a:ext cx="5257800" cy="100584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050" b="0">
                <a:solidFill>
                  <a:srgbClr val="46586C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session / user / tenant 三维度独立配额，超阈值自动降级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063240"/>
            <a:ext cx="553212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063240"/>
            <a:ext cx="1097280" cy="274320"/>
          </a:xfrm>
          <a:prstGeom prst="rect">
            <a:avLst/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108960"/>
            <a:ext cx="914400" cy="201168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Consensus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3108960"/>
            <a:ext cx="4160520" cy="27432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400" b="1">
                <a:solidFill>
                  <a:srgbClr val="143A5E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Self-Consistency 投票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429000"/>
            <a:ext cx="5257800" cy="100584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050" b="0">
                <a:solidFill>
                  <a:srgbClr val="46586C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多次采样、启发式协同取共识，消除单次采样偏差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3063240"/>
            <a:ext cx="553212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9632" y="3063240"/>
            <a:ext cx="1097280" cy="27432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91072" y="3108960"/>
            <a:ext cx="914400" cy="201168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Guard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9792" y="3108960"/>
            <a:ext cx="4160520" cy="27432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400" b="1">
                <a:solidFill>
                  <a:srgbClr val="143A5E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Prompt 注入防御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6792" y="3429000"/>
            <a:ext cx="5257800" cy="100584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050" b="0">
                <a:solidFill>
                  <a:srgbClr val="46586C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正则 + fail-open 双层守卫，guard 异常不影响主分析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663440"/>
            <a:ext cx="553212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663440"/>
            <a:ext cx="1097280" cy="274320"/>
          </a:xfrm>
          <a:prstGeom prst="rect">
            <a:avLst/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709159"/>
            <a:ext cx="914400" cy="201168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Workflow ARQ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4709159"/>
            <a:ext cx="4160520" cy="27432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400" b="1">
                <a:solidFill>
                  <a:srgbClr val="143A5E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Job 调度 + ARQ Redis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5029200"/>
            <a:ext cx="5257800" cy="100584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050" b="0">
                <a:solidFill>
                  <a:srgbClr val="46586C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SQLite 持久化、Timer 调度，失败自 ARQ 重试，可换 Celery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9632" y="4663440"/>
            <a:ext cx="553212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9632" y="4663440"/>
            <a:ext cx="1097280" cy="27432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91072" y="4709159"/>
            <a:ext cx="914400" cy="201168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MTLS/OIDC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9792" y="4709159"/>
            <a:ext cx="4160520" cy="27432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400" b="1">
                <a:solidFill>
                  <a:srgbClr val="143A5E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零信任 + K8s 蓝绿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36792" y="5029200"/>
            <a:ext cx="5257800" cy="100584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050" b="0">
                <a:solidFill>
                  <a:srgbClr val="46586C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mTLS + OIDC Authorization Code Flow，Ingress + cert-manager + 蓝绿切换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000" b="1">
                <a:solidFill>
                  <a:srgbClr val="143A5E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6 大工程支柱围绕「可控、可观测、可扩展」展开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11430000" cy="32004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系统架构图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731520"/>
            <a:ext cx="2194560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14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2011679" cy="27432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300" b="1">
                <a:solidFill>
                  <a:srgbClr val="143A5E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Client (React SPA)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920240" cy="118872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050" b="0">
                <a:solidFill>
                  <a:srgbClr val="0E1726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React 19 + TypeScript</a:t>
            </a:r>
          </a:p>
          <a:p>
            <a:pPr algn="l"/>
            <a:r>
              <a:rPr sz="1050" b="0">
                <a:solidFill>
                  <a:srgbClr val="0E1726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Tailwind v4 + Vite</a:t>
            </a:r>
          </a:p>
          <a:p>
            <a:pPr algn="l"/>
            <a:r>
              <a:rPr sz="1050" b="0">
                <a:solidFill>
                  <a:srgbClr val="0E1726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TanStack Query</a:t>
            </a:r>
          </a:p>
          <a:p>
            <a:pPr algn="l"/>
            <a:r>
              <a:rPr sz="1050" b="0">
                <a:solidFill>
                  <a:srgbClr val="0E1726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cmdk 命令面板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731520"/>
            <a:ext cx="2011680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14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777240"/>
            <a:ext cx="1828800" cy="27432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200" b="1">
                <a:solidFill>
                  <a:srgbClr val="143A5E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Ingress-NGINX + cert-manager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1097280"/>
            <a:ext cx="1737360" cy="118872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050" b="0">
                <a:solidFill>
                  <a:srgbClr val="0E1726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HTTPS / mTLS 终结</a:t>
            </a:r>
          </a:p>
          <a:p>
            <a:pPr algn="l"/>
            <a:r>
              <a:rPr sz="1050" b="0">
                <a:solidFill>
                  <a:srgbClr val="0E1726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蓝绿 / canary 路由</a:t>
            </a:r>
          </a:p>
          <a:p>
            <a:pPr algn="l"/>
            <a:r>
              <a:rPr sz="1050" b="0">
                <a:solidFill>
                  <a:srgbClr val="0E1726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静态资源缓存</a:t>
            </a:r>
          </a:p>
          <a:p>
            <a:pPr algn="l"/>
            <a:r>
              <a:rPr sz="1050" b="0">
                <a:solidFill>
                  <a:srgbClr val="0E1726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HTTP → HTTPS 308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731520"/>
            <a:ext cx="3200400" cy="1645920"/>
          </a:xfrm>
          <a:prstGeom prst="roundRect">
            <a:avLst>
              <a:gd name="adj" fmla="val 12000"/>
            </a:avLst>
          </a:prstGeom>
          <a:solidFill>
            <a:srgbClr val="EAF0F6"/>
          </a:solidFill>
          <a:ln w="6350">
            <a:solidFill>
              <a:srgbClr val="14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59" y="777240"/>
            <a:ext cx="3017520" cy="27432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300" b="1">
                <a:solidFill>
                  <a:srgbClr val="143A5E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FastAPI (:8000)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1097280"/>
            <a:ext cx="2926080" cy="118872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050" b="0">
                <a:solidFill>
                  <a:srgbClr val="0E1726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Lifespan: warm-up + scheduler</a:t>
            </a:r>
          </a:p>
          <a:p>
            <a:pPr algn="l"/>
            <a:r>
              <a:rPr sz="1050" b="0">
                <a:solidFill>
                  <a:srgbClr val="0E1726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Middleware: CORS → auth → metrics</a:t>
            </a:r>
          </a:p>
          <a:p>
            <a:pPr algn="l"/>
            <a:r>
              <a:rPr sz="1050" b="0">
                <a:solidFill>
                  <a:srgbClr val="0E1726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Routers: 17 api + OIDC + UI</a:t>
            </a:r>
          </a:p>
          <a:p>
            <a:pPr algn="l"/>
            <a:r>
              <a:rPr sz="1050" b="0">
                <a:solidFill>
                  <a:srgbClr val="0E1726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Prometheus /metrics 端点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731520"/>
            <a:ext cx="2926080" cy="1645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19" y="77724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300" b="1">
                <a:solidFill>
                  <a:srgbClr val="143A5E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LangGraph 编排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1097280"/>
            <a:ext cx="2651760" cy="118872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050" b="0">
                <a:solidFill>
                  <a:srgbClr val="0E1726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LLM Router · Budget</a:t>
            </a:r>
          </a:p>
          <a:p>
            <a:pPr algn="l"/>
            <a:r>
              <a:rPr sz="1050" b="0">
                <a:solidFill>
                  <a:srgbClr val="0E1726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Guard · Self-Consistency</a:t>
            </a:r>
          </a:p>
          <a:p>
            <a:pPr algn="l"/>
            <a:r>
              <a:rPr sz="1050" b="0">
                <a:solidFill>
                  <a:srgbClr val="0E1726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Semantic/Response Cache</a:t>
            </a:r>
          </a:p>
          <a:p>
            <a:pPr algn="l"/>
            <a:r>
              <a:rPr sz="1050" b="0">
                <a:solidFill>
                  <a:srgbClr val="0E1726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Checkpoint (SQLite)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743200"/>
            <a:ext cx="283464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14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2743200"/>
            <a:ext cx="2834640" cy="320040"/>
          </a:xfrm>
          <a:prstGeom prst="rect">
            <a:avLst/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779776"/>
            <a:ext cx="2560320" cy="256032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154680"/>
            <a:ext cx="2560320" cy="146304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050" b="0">
                <a:solidFill>
                  <a:srgbClr val="46586C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SQLite/WAL</a:t>
            </a:r>
          </a:p>
          <a:p>
            <a:pPr algn="l"/>
            <a:r>
              <a:rPr sz="1050" b="0">
                <a:solidFill>
                  <a:srgbClr val="46586C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Postgres (多租户)</a:t>
            </a:r>
          </a:p>
          <a:p>
            <a:pPr algn="l"/>
            <a:r>
              <a:rPr sz="1050" b="0">
                <a:solidFill>
                  <a:srgbClr val="46586C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Redis (短期记忆/缓存)</a:t>
            </a:r>
          </a:p>
          <a:p>
            <a:pPr algn="l"/>
            <a:r>
              <a:rPr sz="1050" b="0">
                <a:solidFill>
                  <a:srgbClr val="46586C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ARQ 分布式定时任务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17520" y="2743200"/>
            <a:ext cx="283464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14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17520" y="2743200"/>
            <a:ext cx="2834640" cy="320040"/>
          </a:xfrm>
          <a:prstGeom prst="rect">
            <a:avLst/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54679" y="2779776"/>
            <a:ext cx="2560320" cy="256032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Observability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79" y="3154680"/>
            <a:ext cx="2560320" cy="146304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050" b="0">
                <a:solidFill>
                  <a:srgbClr val="46586C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本地 JSONL trace</a:t>
            </a:r>
          </a:p>
          <a:p>
            <a:pPr algn="l"/>
            <a:r>
              <a:rPr sz="1050" b="0">
                <a:solidFill>
                  <a:srgbClr val="46586C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LangFuse 云端双写</a:t>
            </a:r>
          </a:p>
          <a:p>
            <a:pPr algn="l"/>
            <a:r>
              <a:rPr sz="1050" b="0">
                <a:solidFill>
                  <a:srgbClr val="46586C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Prometheus 文本指标</a:t>
            </a:r>
          </a:p>
          <a:p>
            <a:pPr algn="l"/>
            <a:r>
              <a:rPr sz="1050" b="0">
                <a:solidFill>
                  <a:srgbClr val="46586C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结构化审计 (auth/masking/tool)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0" y="2743200"/>
            <a:ext cx="283464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14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0" y="2743200"/>
            <a:ext cx="2834640" cy="320040"/>
          </a:xfrm>
          <a:prstGeom prst="rect">
            <a:avLst/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06440" y="2779776"/>
            <a:ext cx="2560320" cy="256032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Semantic 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3154680"/>
            <a:ext cx="2560320" cy="146304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050" b="0">
                <a:solidFill>
                  <a:srgbClr val="46586C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Milvus (向量召回)</a:t>
            </a:r>
          </a:p>
          <a:p>
            <a:pPr algn="l"/>
            <a:r>
              <a:rPr sz="1050" b="0">
                <a:solidFill>
                  <a:srgbClr val="46586C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BM25 兜底</a:t>
            </a:r>
          </a:p>
          <a:p>
            <a:pPr algn="l"/>
            <a:r>
              <a:rPr sz="1050" b="0">
                <a:solidFill>
                  <a:srgbClr val="46586C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Query 改写 + 多跳</a:t>
            </a:r>
          </a:p>
          <a:p>
            <a:pPr algn="l"/>
            <a:r>
              <a:rPr sz="1050" b="0">
                <a:solidFill>
                  <a:srgbClr val="46586C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Semantic Cache (hashing)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2743200"/>
            <a:ext cx="2834640" cy="1920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14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21040" y="2743200"/>
            <a:ext cx="2834640" cy="320040"/>
          </a:xfrm>
          <a:prstGeom prst="rect">
            <a:avLst/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58200" y="2779776"/>
            <a:ext cx="2560320" cy="256032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Security/IdP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3154680"/>
            <a:ext cx="2560320" cy="146304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050" b="0">
                <a:solidFill>
                  <a:srgbClr val="46586C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mTLS / OIDC</a:t>
            </a:r>
          </a:p>
          <a:p>
            <a:pPr algn="l"/>
            <a:r>
              <a:rPr sz="1050" b="0">
                <a:solidFill>
                  <a:srgbClr val="46586C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Prompt 注入防御</a:t>
            </a:r>
          </a:p>
          <a:p>
            <a:pPr algn="l"/>
            <a:r>
              <a:rPr sz="1050" b="0">
                <a:solidFill>
                  <a:srgbClr val="46586C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Input Sanitization</a:t>
            </a:r>
          </a:p>
          <a:p>
            <a:pPr algn="l"/>
            <a:r>
              <a:rPr sz="1050" b="0">
                <a:solidFill>
                  <a:srgbClr val="46586C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HITL 两步确认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560320" y="1554480"/>
            <a:ext cx="365760" cy="0"/>
          </a:xfrm>
          <a:prstGeom prst="line">
            <a:avLst/>
          </a:prstGeom>
          <a:ln w="19050">
            <a:solidFill>
              <a:srgbClr val="143A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937760" y="1554480"/>
            <a:ext cx="365760" cy="0"/>
          </a:xfrm>
          <a:prstGeom prst="line">
            <a:avLst/>
          </a:prstGeom>
          <a:ln w="19050">
            <a:solidFill>
              <a:srgbClr val="143A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503920" y="1554480"/>
            <a:ext cx="365760" cy="0"/>
          </a:xfrm>
          <a:prstGeom prst="line">
            <a:avLst/>
          </a:prstGeom>
          <a:ln w="19050">
            <a:solidFill>
              <a:srgbClr val="143A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903720" y="2377440"/>
            <a:ext cx="0" cy="365760"/>
          </a:xfrm>
          <a:prstGeom prst="line">
            <a:avLst/>
          </a:prstGeom>
          <a:ln w="19050">
            <a:solidFill>
              <a:srgbClr val="4658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000" b="1">
                <a:solidFill>
                  <a:srgbClr val="143A5E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三层解耦：UI / API · Agent 编排 · 垂直子系统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11430000" cy="32004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Agent Pipeline — 6 阶段横向流水线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188720"/>
            <a:ext cx="1737360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1737360" cy="32004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1225296"/>
            <a:ext cx="1645919" cy="27432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1  Clarify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600200"/>
            <a:ext cx="1554480" cy="36576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050" b="1">
                <a:solidFill>
                  <a:srgbClr val="143A5E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意图澄清 + 反问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057400"/>
            <a:ext cx="1554480" cy="178308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950" b="0">
                <a:solidFill>
                  <a:srgbClr val="71849A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LLM 解析意图</a:t>
            </a:r>
          </a:p>
          <a:p>
            <a:pPr algn="l"/>
            <a:r>
              <a:rPr sz="950" b="0">
                <a:solidFill>
                  <a:srgbClr val="71849A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结构化澄清卡</a:t>
            </a:r>
          </a:p>
          <a:p>
            <a:pPr algn="l"/>
            <a:r>
              <a:rPr sz="950" b="0">
                <a:solidFill>
                  <a:srgbClr val="71849A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回答绑定到 session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066543" y="2560320"/>
            <a:ext cx="27433" cy="0"/>
          </a:xfrm>
          <a:prstGeom prst="line">
            <a:avLst/>
          </a:prstGeom>
          <a:ln w="19050">
            <a:solidFill>
              <a:srgbClr val="4CC9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103120" y="1188720"/>
            <a:ext cx="1737360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14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03120" y="1188720"/>
            <a:ext cx="1737360" cy="320040"/>
          </a:xfrm>
          <a:prstGeom prst="rect">
            <a:avLst/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48839" y="1225296"/>
            <a:ext cx="1645919" cy="27432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2   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1600200"/>
            <a:ext cx="1554480" cy="36576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050" b="1">
                <a:solidFill>
                  <a:srgbClr val="143A5E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分解为 SQL + Python steps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2057400"/>
            <a:ext cx="1554480" cy="178308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950" b="0">
                <a:solidFill>
                  <a:srgbClr val="71849A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max_plan_steps = 8</a:t>
            </a:r>
          </a:p>
          <a:p>
            <a:pPr algn="l"/>
            <a:r>
              <a:rPr sz="950" b="0">
                <a:solidFill>
                  <a:srgbClr val="71849A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依赖图构建</a:t>
            </a:r>
          </a:p>
          <a:p>
            <a:pPr algn="l"/>
            <a:r>
              <a:rPr sz="950" b="0">
                <a:solidFill>
                  <a:srgbClr val="71849A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波次并发分配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49623" y="2560320"/>
            <a:ext cx="27433" cy="0"/>
          </a:xfrm>
          <a:prstGeom prst="line">
            <a:avLst/>
          </a:prstGeom>
          <a:ln w="19050">
            <a:solidFill>
              <a:srgbClr val="143A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886200" y="1188720"/>
            <a:ext cx="1737360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14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86200" y="1188720"/>
            <a:ext cx="1737360" cy="320040"/>
          </a:xfrm>
          <a:prstGeom prst="rect">
            <a:avLst/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0" y="1225296"/>
            <a:ext cx="1645919" cy="27432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3  Execute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39" y="1600200"/>
            <a:ext cx="1554480" cy="36576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050" b="1">
                <a:solidFill>
                  <a:srgbClr val="143A5E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命中 Cache 直接返回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39" y="2057400"/>
            <a:ext cx="1554480" cy="178308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950" b="0">
                <a:solidFill>
                  <a:srgbClr val="71849A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semantic_cache 0.92</a:t>
            </a:r>
          </a:p>
          <a:p>
            <a:pPr algn="l"/>
            <a:r>
              <a:rPr sz="950" b="0">
                <a:solidFill>
                  <a:srgbClr val="71849A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response_cache TTL 1h</a:t>
            </a:r>
          </a:p>
          <a:p>
            <a:pPr algn="l"/>
            <a:r>
              <a:rPr sz="950" b="0">
                <a:solidFill>
                  <a:srgbClr val="71849A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parallel_workers = 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632704" y="2560320"/>
            <a:ext cx="27432" cy="0"/>
          </a:xfrm>
          <a:prstGeom prst="line">
            <a:avLst/>
          </a:prstGeom>
          <a:ln w="19050">
            <a:solidFill>
              <a:srgbClr val="143A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669279" y="1188720"/>
            <a:ext cx="1737360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14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79" y="1188720"/>
            <a:ext cx="1737360" cy="320040"/>
          </a:xfrm>
          <a:prstGeom prst="rect">
            <a:avLst/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14999" y="1225296"/>
            <a:ext cx="1645919" cy="27432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4  Reflect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19" y="1600200"/>
            <a:ext cx="1554480" cy="36576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050" b="1">
                <a:solidFill>
                  <a:srgbClr val="143A5E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LLM 判断是否需要重规划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19" y="2057400"/>
            <a:ext cx="1554480" cy="178308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950" b="0">
                <a:solidFill>
                  <a:srgbClr val="71849A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PASS / REPLAN 决策</a:t>
            </a:r>
          </a:p>
          <a:p>
            <a:pPr algn="l"/>
            <a:r>
              <a:rPr sz="950" b="0">
                <a:solidFill>
                  <a:srgbClr val="71849A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上下文 budget 校验</a:t>
            </a:r>
          </a:p>
          <a:p>
            <a:pPr algn="l"/>
            <a:r>
              <a:rPr sz="950" b="0">
                <a:solidFill>
                  <a:srgbClr val="71849A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REPLAN 压缩 tool_result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415783" y="2560320"/>
            <a:ext cx="27433" cy="0"/>
          </a:xfrm>
          <a:prstGeom prst="line">
            <a:avLst/>
          </a:prstGeom>
          <a:ln w="19050">
            <a:solidFill>
              <a:srgbClr val="143A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452360" y="1188720"/>
            <a:ext cx="1737360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52360" y="1188720"/>
            <a:ext cx="1737360" cy="32004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0" y="1225296"/>
            <a:ext cx="1645919" cy="27432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5  Replan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3800" y="1600200"/>
            <a:ext cx="1554480" cy="36576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050" b="1">
                <a:solidFill>
                  <a:srgbClr val="143A5E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带 Context 压缩的循环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43800" y="2057400"/>
            <a:ext cx="1554480" cy="178308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950" b="0">
                <a:solidFill>
                  <a:srgbClr val="71849A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max_replans = 2</a:t>
            </a:r>
          </a:p>
          <a:p>
            <a:pPr algn="l"/>
            <a:r>
              <a:rPr sz="950" b="0">
                <a:solidFill>
                  <a:srgbClr val="71849A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tool_result → 500 字摘要</a:t>
            </a:r>
          </a:p>
          <a:p>
            <a:pPr algn="l"/>
            <a:r>
              <a:rPr sz="950" b="0">
                <a:solidFill>
                  <a:srgbClr val="71849A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report → 300 字 executive_summary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198864" y="2560320"/>
            <a:ext cx="27432" cy="0"/>
          </a:xfrm>
          <a:prstGeom prst="line">
            <a:avLst/>
          </a:prstGeom>
          <a:ln w="19050">
            <a:solidFill>
              <a:srgbClr val="4CC9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235440" y="1188720"/>
            <a:ext cx="1737360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14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235440" y="1188720"/>
            <a:ext cx="1737360" cy="320040"/>
          </a:xfrm>
          <a:prstGeom prst="rect">
            <a:avLst/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81160" y="1225296"/>
            <a:ext cx="1645919" cy="27432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6  Finalize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1600200"/>
            <a:ext cx="1554480" cy="36576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050" b="1">
                <a:solidFill>
                  <a:srgbClr val="143A5E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生成 Markdown + 图表 + 导出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2057400"/>
            <a:ext cx="1554480" cy="178308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950" b="0">
                <a:solidFill>
                  <a:srgbClr val="71849A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结论一致性投票</a:t>
            </a:r>
          </a:p>
          <a:p>
            <a:pPr algn="l"/>
            <a:r>
              <a:rPr sz="950" b="0">
                <a:solidFill>
                  <a:srgbClr val="71849A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配 caliber LLM 口径复核</a:t>
            </a:r>
          </a:p>
          <a:p>
            <a:pPr algn="l"/>
            <a:r>
              <a:rPr sz="950" b="0">
                <a:solidFill>
                  <a:srgbClr val="71849A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Markdown + 内嵌图表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4206240"/>
            <a:ext cx="11247120" cy="1371600"/>
          </a:xfrm>
          <a:prstGeom prst="roundRect">
            <a:avLst>
              <a:gd name="adj" fmla="val 12000"/>
            </a:avLst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29768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200" b="1">
                <a:solidFill>
                  <a:srgbClr val="143A5E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核心控制参数（env-gated）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4617720"/>
            <a:ext cx="10972800" cy="91440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050" b="0">
                <a:solidFill>
                  <a:srgbClr val="0E1726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context_max_tokens = 60k | compress_threshold = 0.8 | hard_max = 80k  |  prompt_budget = 16k  |  max_replans = 2  |  self_consistency_n = 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5760720"/>
            <a:ext cx="1124712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14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100" b="1">
                <a:solidFill>
                  <a:srgbClr val="143A5E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输出：consistency metadata + caliber LLM 口径校验 + Markdown 报告 + 可回放 checkpoint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000" b="1">
                <a:solidFill>
                  <a:srgbClr val="143A5E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核心产物：AgentState 上下文缓存 + LangGraph Checkpoint 可回放 + Streaming SSE 前端时间线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11430000" cy="32004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工程化支柱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777240"/>
            <a:ext cx="5486400" cy="2377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14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777240"/>
            <a:ext cx="5486400" cy="365760"/>
          </a:xfrm>
          <a:prstGeom prst="rect">
            <a:avLst/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822960"/>
            <a:ext cx="5212080" cy="292608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测试覆盖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5212080" cy="27432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100" b="1">
                <a:solidFill>
                  <a:srgbClr val="143A5E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pytest 1686+ cases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5212080" cy="146304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050" b="0">
                <a:solidFill>
                  <a:srgbClr val="46586C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P0 主链路 / P1 边界 / P2 回归离线</a:t>
            </a:r>
          </a:p>
          <a:p>
            <a:pPr algn="l"/>
            <a:r>
              <a:rPr sz="1050" b="0">
                <a:solidFill>
                  <a:srgbClr val="46586C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Tests/coverage 可视化</a:t>
            </a:r>
          </a:p>
          <a:p>
            <a:pPr algn="l"/>
            <a:r>
              <a:rPr sz="1050" b="0">
                <a:solidFill>
                  <a:srgbClr val="46586C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回归套件在 CI 全量跑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777240"/>
            <a:ext cx="5486400" cy="2377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14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777240"/>
            <a:ext cx="5486400" cy="365760"/>
          </a:xfrm>
          <a:prstGeom prst="rect">
            <a:avLst/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822960"/>
            <a:ext cx="5212080" cy="292608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可观测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234440"/>
            <a:ext cx="5212080" cy="27432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100" b="1">
                <a:solidFill>
                  <a:srgbClr val="143A5E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本地 trace + LangFuse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600200"/>
            <a:ext cx="5212080" cy="146304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050" b="0">
                <a:solidFill>
                  <a:srgbClr val="46586C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JSONL 持久化 (traces/)</a:t>
            </a:r>
          </a:p>
          <a:p>
            <a:pPr algn="l"/>
            <a:r>
              <a:rPr sz="1050" b="0">
                <a:solidFill>
                  <a:srgbClr val="46586C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Prometheus 多副本抓取</a:t>
            </a:r>
          </a:p>
          <a:p>
            <a:pPr algn="l"/>
            <a:r>
              <a:rPr sz="1050" b="0">
                <a:solidFill>
                  <a:srgbClr val="46586C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LangFuse span 云端双写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383280"/>
            <a:ext cx="5486400" cy="2377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383280"/>
            <a:ext cx="5486400" cy="36576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429000"/>
            <a:ext cx="5212080" cy="292608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配置治理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840480"/>
            <a:ext cx="5212080" cy="27432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100" b="1">
                <a:solidFill>
                  <a:srgbClr val="143A5E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Settings 全 env-gated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206240"/>
            <a:ext cx="5212080" cy="146304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050" b="0">
                <a:solidFill>
                  <a:srgbClr val="46586C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7 组开关：budget / ARQ / OIDC</a:t>
            </a:r>
          </a:p>
          <a:p>
            <a:pPr algn="l"/>
            <a:r>
              <a:rPr sz="1050" b="0">
                <a:solidFill>
                  <a:srgbClr val="46586C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prompt guard / multi-hop / skills</a:t>
            </a:r>
          </a:p>
          <a:p>
            <a:pPr algn="l"/>
            <a:r>
              <a:rPr sz="1050" b="0">
                <a:solidFill>
                  <a:srgbClr val="46586C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context / response cache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383280"/>
            <a:ext cx="5486400" cy="2377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3383280"/>
            <a:ext cx="5486400" cy="36576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3429000"/>
            <a:ext cx="5212080" cy="292608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Security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840480"/>
            <a:ext cx="5212080" cy="27432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100" b="1">
                <a:solidFill>
                  <a:srgbClr val="143A5E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MTLS + OIDC + Prompt Guard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206240"/>
            <a:ext cx="5212080" cy="146304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050" b="0">
                <a:solidFill>
                  <a:srgbClr val="46586C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mTLS 客户端证书校验</a:t>
            </a:r>
          </a:p>
          <a:p>
            <a:pPr algn="l"/>
            <a:r>
              <a:rPr sz="1050" b="0">
                <a:solidFill>
                  <a:srgbClr val="46586C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OIDC Authorization Code Flow</a:t>
            </a:r>
          </a:p>
          <a:p>
            <a:pPr algn="l"/>
            <a:r>
              <a:rPr sz="1050" b="0">
                <a:solidFill>
                  <a:srgbClr val="46586C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prompt 正则 + fail-open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000" b="1">
                <a:solidFill>
                  <a:srgbClr val="143A5E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工程化核心理念：每个能力均可通过 env 关闭，dev/test 路径保持零额外依赖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11430000" cy="32004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DevOps / K8s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731520"/>
            <a:ext cx="5486400" cy="2651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14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731520"/>
            <a:ext cx="5486400" cy="320040"/>
          </a:xfrm>
          <a:prstGeom prst="rect">
            <a:avLst/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777240"/>
            <a:ext cx="5120640" cy="27432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Docker 多阶段构建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43000"/>
            <a:ext cx="5120640" cy="164592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050" b="0">
                <a:solidFill>
                  <a:srgbClr val="0E1726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backend: python:3.12-slim builder</a:t>
            </a:r>
          </a:p>
          <a:p>
            <a:pPr algn="l"/>
            <a:r>
              <a:rPr sz="1050" b="0">
                <a:solidFill>
                  <a:srgbClr val="0E1726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→ pip install --prefix /install</a:t>
            </a:r>
          </a:p>
          <a:p>
            <a:pPr algn="l"/>
            <a:r>
              <a:rPr sz="1050" b="0">
                <a:solidFill>
                  <a:srgbClr val="0E1726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→ 第二阶段 slim + libpq5 + curl</a:t>
            </a:r>
          </a:p>
          <a:p>
            <a:pPr algn="l"/>
            <a:r>
              <a:rPr sz="1050" b="0">
                <a:solidFill>
                  <a:srgbClr val="0E1726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/>
            </a:r>
          </a:p>
          <a:p>
            <a:pPr algn="l"/>
            <a:r>
              <a:rPr sz="1050" b="0">
                <a:solidFill>
                  <a:srgbClr val="0E1726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frontend: Vite build → Nginx serve</a:t>
            </a:r>
          </a:p>
          <a:p>
            <a:pPr algn="l"/>
            <a:r>
              <a:rPr sz="1050" b="0">
                <a:solidFill>
                  <a:srgbClr val="0E1726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静态资源 hash 缓存长期有效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566160"/>
            <a:ext cx="5486400" cy="2651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14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3566160"/>
            <a:ext cx="5486400" cy="320040"/>
          </a:xfrm>
          <a:prstGeom prst="rect">
            <a:avLst/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611880"/>
            <a:ext cx="5120640" cy="27432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K8s Deployment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977639"/>
            <a:ext cx="5120640" cy="164592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050" b="0">
                <a:solidFill>
                  <a:srgbClr val="0E1726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HPA 2-6 pods (基于 CPU / 自定义指标)</a:t>
            </a:r>
          </a:p>
          <a:p>
            <a:pPr algn="l"/>
            <a:r>
              <a:rPr sz="1050" b="0">
                <a:solidFill>
                  <a:srgbClr val="0E1726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initContainer 等 Postgres / Milvus 就绪</a:t>
            </a:r>
          </a:p>
          <a:p>
            <a:pPr algn="l"/>
            <a:r>
              <a:rPr sz="1050" b="0">
                <a:solidFill>
                  <a:srgbClr val="0E1726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preStop sleep 30s 优雅下线</a:t>
            </a:r>
          </a:p>
          <a:p>
            <a:pPr algn="l"/>
            <a:r>
              <a:rPr sz="1050" b="0">
                <a:solidFill>
                  <a:srgbClr val="0E1726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rosource request/limit 严格配比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731520"/>
            <a:ext cx="5486400" cy="2651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731520"/>
            <a:ext cx="5486400" cy="32004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777240"/>
            <a:ext cx="5120640" cy="27432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Ingress + 蓝绿部署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143000"/>
            <a:ext cx="5120640" cy="164592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050" b="0">
                <a:solidFill>
                  <a:srgbClr val="0E1726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Ingress-NGINX + cert-manager 自动 HTTPS</a:t>
            </a:r>
          </a:p>
          <a:p>
            <a:pPr algn="l"/>
            <a:r>
              <a:rPr sz="1050" b="0">
                <a:solidFill>
                  <a:srgbClr val="0E1726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蓝绿切换脚本: scripts/blue-green-switch.sh</a:t>
            </a:r>
          </a:p>
          <a:p>
            <a:pPr algn="l"/>
            <a:r>
              <a:rPr sz="1050" b="0">
                <a:solidFill>
                  <a:srgbClr val="0E1726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零停机 rollback: kubectl rollout undo</a:t>
            </a:r>
          </a:p>
          <a:p>
            <a:pPr algn="l"/>
            <a:r>
              <a:rPr sz="1050" b="0">
                <a:solidFill>
                  <a:srgbClr val="0E1726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canary header 路由矩阵预置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566160"/>
            <a:ext cx="5486400" cy="2651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3566160"/>
            <a:ext cx="5486400" cy="32004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611880"/>
            <a:ext cx="5120640" cy="27432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NetworkPolicy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977639"/>
            <a:ext cx="5120640" cy="164592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050" b="0">
                <a:solidFill>
                  <a:srgbClr val="0E1726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默认拒绝 (default deny-all)</a:t>
            </a:r>
          </a:p>
          <a:p>
            <a:pPr algn="l"/>
            <a:r>
              <a:rPr sz="1050" b="0">
                <a:solidFill>
                  <a:srgbClr val="0E1726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6 条细粒度白名单规则</a:t>
            </a:r>
          </a:p>
          <a:p>
            <a:pPr algn="l"/>
            <a:r>
              <a:rPr sz="1050" b="0">
                <a:solidFill>
                  <a:srgbClr val="0E1726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Ingress 仅允许跨命名空间 API 流量</a:t>
            </a:r>
          </a:p>
          <a:p>
            <a:pPr algn="l"/>
            <a:r>
              <a:rPr sz="1050" b="0">
                <a:solidFill>
                  <a:srgbClr val="0E1726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Egress 显式到 Postgres / Redis / Milvus</a:t>
            </a:r>
          </a:p>
          <a:p>
            <a:pPr algn="l"/>
            <a:r>
              <a:rPr sz="1050" b="0">
                <a:solidFill>
                  <a:srgbClr val="0E1726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审计日志落盘保留 30 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000" b="1">
                <a:solidFill>
                  <a:srgbClr val="143A5E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Kubernetes 生产持仓能力：HPA + 蓝绿 + NetworkPolicy + cert-manager 一键拉起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11430000" cy="32004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前端工程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731520"/>
            <a:ext cx="4206240" cy="2286000"/>
          </a:xfrm>
          <a:prstGeom prst="roundRect">
            <a:avLst>
              <a:gd name="adj" fmla="val 12000"/>
            </a:avLst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3840480" cy="27432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300" b="1">
                <a:solidFill>
                  <a:srgbClr val="143A5E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技术栈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3840480" cy="164592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100" b="0">
                <a:solidFill>
                  <a:srgbClr val="0E1726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React 19 + TypeScript</a:t>
            </a:r>
          </a:p>
          <a:p>
            <a:pPr algn="l"/>
            <a:r>
              <a:rPr sz="1100" b="0">
                <a:solidFill>
                  <a:srgbClr val="0E1726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Tailwind CSS v4 (tokens)</a:t>
            </a:r>
          </a:p>
          <a:p>
            <a:pPr algn="l"/>
            <a:r>
              <a:rPr sz="1100" b="0">
                <a:solidFill>
                  <a:srgbClr val="0E1726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Vite 6 (HMR &lt; 300ms)</a:t>
            </a:r>
          </a:p>
          <a:p>
            <a:pPr algn="l"/>
            <a:r>
              <a:rPr sz="1100" b="0">
                <a:solidFill>
                  <a:srgbClr val="0E1726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eslint + oxlint + tsc --noEmit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731520"/>
            <a:ext cx="365760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14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0" y="822960"/>
            <a:ext cx="3474720" cy="27432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300" b="1">
                <a:solidFill>
                  <a:srgbClr val="143A5E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状态管理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097280"/>
            <a:ext cx="3474720" cy="164592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100" b="0">
                <a:solidFill>
                  <a:srgbClr val="0E1726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TanStack Query v5 (server state)</a:t>
            </a:r>
          </a:p>
          <a:p>
            <a:pPr algn="l"/>
            <a:r>
              <a:rPr sz="1100" b="0">
                <a:solidFill>
                  <a:srgbClr val="0E1726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useLocalStorage (持久对话)</a:t>
            </a:r>
          </a:p>
          <a:p>
            <a:pPr algn="l"/>
            <a:r>
              <a:rPr sz="1100" b="0">
                <a:solidFill>
                  <a:srgbClr val="0E1726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useRef AbortController (cancel)</a:t>
            </a:r>
          </a:p>
          <a:p>
            <a:pPr algn="l"/>
            <a:r>
              <a:rPr sz="1100" b="0">
                <a:solidFill>
                  <a:srgbClr val="0E1726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sse streaming 事件驱动 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15400" y="731520"/>
            <a:ext cx="292608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822960"/>
            <a:ext cx="2743200" cy="27432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300" b="1">
                <a:solidFill>
                  <a:srgbClr val="143A5E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组件库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1097280"/>
            <a:ext cx="2743200" cy="164592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100" b="0">
                <a:solidFill>
                  <a:srgbClr val="0E1726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Radix (accessible primitives)</a:t>
            </a:r>
          </a:p>
          <a:p>
            <a:pPr algn="l"/>
            <a:r>
              <a:rPr sz="1100" b="0">
                <a:solidFill>
                  <a:srgbClr val="0E1726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Tabler Icons (统一)</a:t>
            </a:r>
          </a:p>
          <a:p>
            <a:pPr algn="l"/>
            <a:r>
              <a:rPr sz="1100" b="0">
                <a:solidFill>
                  <a:srgbClr val="0E1726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Command (cmdk)</a:t>
            </a:r>
          </a:p>
          <a:p>
            <a:pPr algn="l"/>
            <a:r>
              <a:rPr sz="1100" b="0">
                <a:solidFill>
                  <a:srgbClr val="0E1726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12+ 业务 views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246120"/>
            <a:ext cx="1147572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33756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200" b="1">
                <a:solidFill>
                  <a:srgbClr val="143A5E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8 大视图 (SPA hash routing)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657600"/>
            <a:ext cx="10972800" cy="91440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100" b="1">
                <a:solidFill>
                  <a:srgbClr val="46586C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[chat]  [knowledge]  [files]  [datasources]  [skills]  [mcp]  [settings]  [analytics]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0233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850" b="0">
                <a:solidFill>
                  <a:srgbClr val="71849A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视图 ↔ URL hash 双向绑定 · 浏览器 Back/Forward → hashchange 同步 view + activeId · 深链可分享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800600"/>
            <a:ext cx="1147572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892040"/>
            <a:ext cx="10972800" cy="54864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050" b="0">
                <a:solidFill>
                  <a:srgbClr val="46586C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tsc --noEmit 0 errors  ·  vitest 全量通过  ·  oxlint 0 warns  ·  产物 hash +/-long term cache  ·  浏览器无障碍 audit AA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000" b="1">
                <a:solidFill>
                  <a:srgbClr val="143A5E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前端关键取舍：cmdk 命令面板统一命令入口；hash routing 保证部署在任意子路径均可用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"/>
            <a:ext cx="11430000" cy="32004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Roadmap — 迭代里程碑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868680"/>
            <a:ext cx="2834640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14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868680"/>
            <a:ext cx="2834640" cy="274320"/>
          </a:xfrm>
          <a:prstGeom prst="rect">
            <a:avLst/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2651760" cy="201168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D63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2651760" cy="54864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200" b="1">
                <a:solidFill>
                  <a:srgbClr val="143A5E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Supervisor 多 Agent</a:t>
            </a:r>
          </a:p>
          <a:p>
            <a:pPr algn="l"/>
            <a:r>
              <a:rPr sz="1200" b="1">
                <a:solidFill>
                  <a:srgbClr val="143A5E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+ 用户反馈 + Stage Router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74519"/>
            <a:ext cx="2651760" cy="109728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000" b="0">
                <a:solidFill>
                  <a:srgbClr val="71849A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supervisor / feedback / skill route</a:t>
            </a:r>
          </a:p>
          <a:p>
            <a:pPr algn="l"/>
            <a:r>
              <a:rPr sz="1000" b="0">
                <a:solidFill>
                  <a:srgbClr val="71849A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并行子任务 + stage router 三级限流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868680"/>
            <a:ext cx="2834640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14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17520" y="868680"/>
            <a:ext cx="2834640" cy="274320"/>
          </a:xfrm>
          <a:prstGeom prst="rect">
            <a:avLst/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914400"/>
            <a:ext cx="2651760" cy="201168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D64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1234440"/>
            <a:ext cx="2651760" cy="54864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200" b="1">
                <a:solidFill>
                  <a:srgbClr val="143A5E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预算 / 守卫 / 一致性</a:t>
            </a:r>
          </a:p>
          <a:p>
            <a:pPr algn="l"/>
            <a:r>
              <a:rPr sz="1200" b="1">
                <a:solidFill>
                  <a:srgbClr val="143A5E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/ 上下文 / LangFuse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1874519"/>
            <a:ext cx="2651760" cy="109728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000" b="0">
                <a:solidFill>
                  <a:srgbClr val="71849A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budget 三维限额</a:t>
            </a:r>
          </a:p>
          <a:p>
            <a:pPr algn="l"/>
            <a:r>
              <a:rPr sz="1000" b="0">
                <a:solidFill>
                  <a:srgbClr val="71849A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self-consistency 投票</a:t>
            </a:r>
          </a:p>
          <a:p>
            <a:pPr algn="l"/>
            <a:r>
              <a:rPr sz="1000" b="0">
                <a:solidFill>
                  <a:srgbClr val="71849A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context 压缩 + langfuse 双写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868680"/>
            <a:ext cx="2834640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4CC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0" y="868680"/>
            <a:ext cx="2834640" cy="27432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914400"/>
            <a:ext cx="2651760" cy="201168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D65-D69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1234440"/>
            <a:ext cx="2651760" cy="54864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200" b="1">
                <a:solidFill>
                  <a:srgbClr val="143A5E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ARQ + TanStack/cmdk</a:t>
            </a:r>
          </a:p>
          <a:p>
            <a:pPr algn="l"/>
            <a:r>
              <a:rPr sz="1200" b="1">
                <a:solidFill>
                  <a:srgbClr val="143A5E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+ MTLS/OIDC + K8s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1874519"/>
            <a:ext cx="2651760" cy="109728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000" b="0">
                <a:solidFill>
                  <a:srgbClr val="71849A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ARQ Redis 重试调度</a:t>
            </a:r>
          </a:p>
          <a:p>
            <a:pPr algn="l"/>
            <a:r>
              <a:rPr sz="1000" b="0">
                <a:solidFill>
                  <a:srgbClr val="71849A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mTLS + OIDC 授权流</a:t>
            </a:r>
          </a:p>
          <a:p>
            <a:pPr algn="l"/>
            <a:r>
              <a:rPr sz="1000" b="0">
                <a:solidFill>
                  <a:srgbClr val="71849A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K8s 2-6 HPA + 蓝绿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868680"/>
            <a:ext cx="2834640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4658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21040" y="868680"/>
            <a:ext cx="2834640" cy="274320"/>
          </a:xfrm>
          <a:prstGeom prst="rect">
            <a:avLst/>
          </a:prstGeom>
          <a:solidFill>
            <a:srgbClr val="4658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914400"/>
            <a:ext cx="2651760" cy="201168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候选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1234440"/>
            <a:ext cx="2651760" cy="54864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200" b="1">
                <a:solidFill>
                  <a:srgbClr val="143A5E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Playwright E2E</a:t>
            </a:r>
          </a:p>
          <a:p>
            <a:pPr algn="l"/>
            <a:r>
              <a:rPr sz="1200" b="1">
                <a:solidFill>
                  <a:srgbClr val="143A5E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语义缓存命中调优</a:t>
            </a:r>
          </a:p>
          <a:p>
            <a:pPr algn="l"/>
            <a:r>
              <a:rPr sz="1200" b="1">
                <a:solidFill>
                  <a:srgbClr val="143A5E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真实 IdP 对接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1874519"/>
            <a:ext cx="2651760" cy="109728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000" b="0">
                <a:solidFill>
                  <a:srgbClr val="71849A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e2e 垂直切片</a:t>
            </a:r>
          </a:p>
          <a:p>
            <a:pPr algn="l"/>
            <a:r>
              <a:rPr sz="1000" b="0">
                <a:solidFill>
                  <a:srgbClr val="71849A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query 语义缓存基准</a:t>
            </a:r>
          </a:p>
          <a:p>
            <a:pPr algn="l"/>
            <a:r>
              <a:rPr sz="1000" b="0">
                <a:solidFill>
                  <a:srgbClr val="71849A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MTLS IdP 集成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291840"/>
            <a:ext cx="11475720" cy="1371600"/>
          </a:xfrm>
          <a:prstGeom prst="roundRect">
            <a:avLst>
              <a:gd name="adj" fmla="val 12000"/>
            </a:avLst>
          </a:prstGeom>
          <a:solidFill>
            <a:srgbClr val="EA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38328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200" b="1">
                <a:solidFill>
                  <a:srgbClr val="143A5E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下一轮优先候选（按影响力排序）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657600"/>
            <a:ext cx="10972800" cy="91440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050" b="0">
                <a:solidFill>
                  <a:srgbClr val="0E1726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(1)  Playwright E2E 垂直切片覆盖「自然语言下单 → 图表渲染 → 反馈闭环」</a:t>
            </a:r>
          </a:p>
          <a:p>
            <a:pPr algn="l"/>
            <a:r>
              <a:rPr sz="1050" b="0">
                <a:solidFill>
                  <a:srgbClr val="0E1726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(2)  Query 语义缓存命中率调优：对齐 0.92 cosine 阈值 vs 实际误回退率</a:t>
            </a:r>
          </a:p>
          <a:p>
            <a:pPr algn="l"/>
            <a:r>
              <a:rPr sz="1050" b="0">
                <a:solidFill>
                  <a:srgbClr val="0E1726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(3)  MTLS 真实 IdP（企业微信 / Okta）对接：当前为协议层就绪但 IdP 配置待跑通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4846320"/>
            <a:ext cx="1147572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14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937760"/>
            <a:ext cx="10972800" cy="91440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000" b="0">
                <a:solidFill>
                  <a:srgbClr val="46586C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累计交付：2 个大版本 · 11 个 D 编号 · 1686+ 测试用例 · 17 个 API 路由 · 8 个 SPA 视图 · 完整 K8s manifests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/>
            <a:r>
              <a:rPr sz="1000" b="1">
                <a:solidFill>
                  <a:srgbClr val="FFFFFF"/>
                </a:solidFill>
                <a:latin typeface="Microsoft YaHei"/>
                <a:eastAsia typeface="Microsoft YaHei" pitchFamily="0" charset="-122"/>
                <a:ascii typeface="Microsoft YaHei" pitchFamily="0" charset="-122"/>
                <a:hAnsi typeface="Microsoft YaHei" pitchFamily="0" charset="-122"/>
                <a:cs typeface="Microsoft YaHei" pitchFamily="0" charset="-122"/>
              </a:rPr>
              <a:t>Roadmap 核心理念：每次交付都是可独立回滚和可验收的工程产物，而非 feature flag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